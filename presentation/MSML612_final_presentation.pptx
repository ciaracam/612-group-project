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0:00–0:30. Introduce team and topic. One line: we forecast household electricity demand one hour ahead using a Transformer, and we test it against the forecasts you get for free.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0:30–1:45. Emphasise the aggregate-vs-household distinction — this is why the problem is hard and why our R² is not 0.95. Land the framing question: the bar is not 'low error', it is 'better than free'.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1:45–3:15. Walk the five steps quickly. Spend your time on the amber box — the chronological split and train-only scaling are the two methodology points a grader will probe. Expect a question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3:15–4:45. This is the novelty slide — 3 rubric points. Do not just say 'we used a Transformer'. The argument is: attention suits this data for a specific reason, and we built an evaluation that could have proven us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4:45–5:15. Move fast. One rubric point; do not dwell.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5:15–7:00. Two rubric points — the highest-value slide per second. Trace the path out loud: 14 features in, projected to 64 dimensions, positional encoding, two encoder layers, pool the final time step, linear head. Call out the tensor shapes; they show you understand the data flow, not just the diagram.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7:00–8:15. REQUIRED PLOT — say the words 'training and validation loss versus epoch' out loud. The overfitting story is a strength: we diagnosed it from the interim curve and fixed it; this figure is the final early-stopped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8:15–9:15. Make the case that this is the honest way to evaluate. Reference Zeng et al. 2023 if asked why we bothered — reported Transformer gains often vanish against simple baselines.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9:15–10:30. Lead with 21.8%. The negative-R² observation for seasonal naive is your best 'we actually looked at this' moment — it shows the daily cycle is not sufficient at household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10:30–11:30. This slide is your defence against 'why is R² only 0.59?'. The answer is that MSE makes hedging optimal, and the fix is a quantile loss — not a bigger model. Say that explicitly.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11:30–14:00. REQUIRED — 3 rubric points. Have the app already running before you start presenting; do not launch it live. Show two forecasts: one on a calm overnight hour, one on an evening peak, so the peak weakness is visible and you own it rather than hiding it. Fallback video ready if anything fails.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14:00–14:30. This is the evidence the architecture was chosen rather than assumed — it carries real weight under 'difficulty of NN design'. If the runs are not finished by Wednesday, delete this slide rather than showing dashes.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14:30–14:50. Be brisk. The quantile-loss point is the strongest one because it follows directly from the error analysis you just showed.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14:50–15:00. Do not read these. Leave up while transitioning to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Anticipated questions:
· Why a Transformer over an LSTM? — constant dependency length; see the LSTM control in the ablation.
· Why only 19% over persistence? — appliance events are driven by human decisions that leave no trace in prior meter readings.
· What does attention actually learn? — untested; attention-weight visualisation is named as future work. Do not overclaim.
· Why window length 24? — one full daily cycle; see the window ablation.
· Did you try a linear baseline? — no, and Zeng et al. 2023 says we should. Concede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7452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Transformer-Based Electricity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14400" y="2542032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87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Consumption Forecasting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336499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time-series forecasting of household electricity demand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42062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Peng   ·   Ciara Cameron   ·   Christopher Pedretti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459028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MSML612 — Deep Learning   |   Final Project   |   August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household-level load forecasting is hard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6492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6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 cannot be stored cheaply at grid scale — supply must match demand continuously.</a:t>
            </a:r>
            <a:endParaRPr lang="en-US" sz="1650" dirty="0"/>
          </a:p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6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load forecasting drives generation scheduling, demand-response, and home battery dispatch.</a:t>
            </a:r>
            <a:endParaRPr lang="en-US" sz="1650" dirty="0"/>
          </a:p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6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demand is smooth: thousands of appliance events average out.</a:t>
            </a:r>
            <a:endParaRPr lang="en-US" sz="1650" dirty="0"/>
          </a:p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6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household is spiky and heavy-tailed — a few discrete, high-draw events dominate.</a:t>
            </a:r>
            <a:endParaRPr lang="en-US" sz="1650" dirty="0"/>
          </a:p>
          <a:p>
            <a:pPr marL="342900" indent="-342900">
              <a:spcAft>
                <a:spcPts val="2600"/>
              </a:spcAft>
              <a:buSzPct val="100000"/>
              <a:buChar char="•"/>
            </a:pPr>
            <a:r>
              <a:rPr lang="en-US" sz="16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variance that matters operationally lives in the peaks, not the daily rhythm.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406640" y="1572768"/>
            <a:ext cx="4206240" cy="2331720"/>
          </a:xfrm>
          <a:prstGeom prst="roundRect">
            <a:avLst>
              <a:gd name="adj" fmla="val 313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35240" y="181051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question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35240" y="2212848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self-attention capture enough structure in single-household demand to beat the forecasts available for free?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406640" y="4224528"/>
            <a:ext cx="2011680" cy="1417320"/>
          </a:xfrm>
          <a:prstGeom prst="roundRect">
            <a:avLst>
              <a:gd name="adj" fmla="val 516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543800" y="43891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2.08M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516368" y="5065776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minute-level readings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601200" y="4224528"/>
            <a:ext cx="2011680" cy="1417320"/>
          </a:xfrm>
          <a:prstGeom prst="roundRect">
            <a:avLst>
              <a:gd name="adj" fmla="val 516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738360" y="438912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yrs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9710928" y="5065776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continuous metering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Preparation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Individual Household Electric Power Consumption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084832" cy="2788920"/>
          </a:xfrm>
          <a:prstGeom prst="roundRect">
            <a:avLst>
              <a:gd name="adj" fmla="val 350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94944" y="1719072"/>
            <a:ext cx="384048" cy="38404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70432" y="1728216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index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13232" y="2176272"/>
            <a:ext cx="17556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date/time into a timestamp index, coerce to numeric, drop duplicate timestamps from DST transitions.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98064" y="1572768"/>
            <a:ext cx="2084832" cy="2788920"/>
          </a:xfrm>
          <a:prstGeom prst="roundRect">
            <a:avLst>
              <a:gd name="adj" fmla="val 350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44368" y="1719072"/>
            <a:ext cx="384048" cy="38404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4436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19856" y="1728216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Resample hourly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962656" y="2176272"/>
            <a:ext cx="17556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 resolution is noisier than the task needs. Hourly means absorb isolated gaps: 2.08M rows → 34,589 hours.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47488" y="1572768"/>
            <a:ext cx="2084832" cy="2788920"/>
          </a:xfrm>
          <a:prstGeom prst="roundRect">
            <a:avLst>
              <a:gd name="adj" fmla="val 350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193792" y="1719072"/>
            <a:ext cx="384048" cy="38404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93792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669280" y="1728216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212080" y="2176272"/>
            <a:ext cx="17556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~1.25% of raw rows have missing values. Time-weighted interpolation fills remaining hours without fragmenting the series.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296912" y="1572768"/>
            <a:ext cx="2084832" cy="2788920"/>
          </a:xfrm>
          <a:prstGeom prst="roundRect">
            <a:avLst>
              <a:gd name="adj" fmla="val 350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43216" y="1719072"/>
            <a:ext cx="384048" cy="38404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43216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918704" y="1728216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features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461504" y="2176272"/>
            <a:ext cx="17556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Hour, day, month as sine/cosine pairs plus weekend flag. Keeps hour 23 adjacent to hour 0. 7 measured + 7 derived = 14.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546336" y="1572768"/>
            <a:ext cx="2084832" cy="2788920"/>
          </a:xfrm>
          <a:prstGeom prst="roundRect">
            <a:avLst>
              <a:gd name="adj" fmla="val 350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692640" y="1719072"/>
            <a:ext cx="384048" cy="38404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92640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168128" y="1728216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Split, then scale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710928" y="2176272"/>
            <a:ext cx="17556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70/15/15 chronological. StandardScaler fit on train only — fitting before splitting leaks test statistics.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66344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DF0E1"/>
          </a:solidFill>
          <a:ln w="12700">
            <a:solidFill>
              <a:srgbClr val="FDF0E1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04672" y="4864608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5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chronological splitting matters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04672" y="5248656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hours are highly correlated. A shuffled test set would mostly contain hours whose immediate neighbours the model has already seen — reported performance would measure interpolation, not forecasting.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Solution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encoder-only Transformer, and an evaluation designed to be falsifiable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00784"/>
            <a:ext cx="310896" cy="31089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07008" y="1664208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over recurrence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68096" y="2139696"/>
            <a:ext cx="48463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 LSTM, hour 1 of the window reaches the prediction through 23 sequential state updates. Self-attention connects any two positions in one operation — constant dependency length regardless of separation.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55080" y="1481328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56248" y="1700784"/>
            <a:ext cx="310896" cy="31089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13448" y="1664208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daily cycle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74536" y="2139696"/>
            <a:ext cx="48463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informative context is often the same hour on previous days, not the previous hour. Attention represents that directly as a high weight on a distant position.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739896"/>
            <a:ext cx="310896" cy="31089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07008" y="370332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Pre-norm encoder layers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68096" y="4178808"/>
            <a:ext cx="48463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 before each sublayer rather than after: better-conditioned gradients at initialisation, no warmup schedule required.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55080" y="352044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56248" y="3739896"/>
            <a:ext cx="310896" cy="310896"/>
          </a:xfrm>
          <a:prstGeom prst="ellipse">
            <a:avLst/>
          </a:prstGeom>
          <a:solidFill>
            <a:srgbClr val="E8871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13448" y="370332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Falsifiable evaluation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74536" y="4178808"/>
            <a:ext cx="48463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report skill against naive persistence, not metrics in isolation. If the model cannot beat repeating the last hour, it is not worth its complexity.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Technologies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68096" y="188366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PyTorch 2.x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68096" y="2395728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nn.TransformerEncoder, custom positional encoding, Adam, ReduceLROnPlateau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288536" y="164592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07992" y="188366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scikit-learn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07992" y="2395728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fit on training split, MAE / MSE metrics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28432" y="164592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47888" y="188366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 + NumPy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47888" y="2395728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Resampling, time-weighted interpolation, cyclical feature engineering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68096" y="421538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Matplotlib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68096" y="4727448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generated from one shared styling module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288536" y="39776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07992" y="421538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Streamlit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07992" y="4727448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inference demo running on CPU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28432" y="397764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47888" y="421538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+ GitHub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47888" y="4727448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repo, pinned requirements, per-run history JSON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2800" dirty="0"/>
          </a:p>
        </p:txBody>
      </p:sp>
      <p:pic>
        <p:nvPicPr>
          <p:cNvPr id="3" name="Image 0" descr="C:\Users\chris\Downloads\612-Group-Project\figures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6776" y="822960"/>
            <a:ext cx="8887968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plot: training and validation loss vs. epoch</a:t>
            </a:r>
            <a:endParaRPr lang="en-US" sz="1400" dirty="0"/>
          </a:p>
        </p:txBody>
      </p:sp>
      <p:pic>
        <p:nvPicPr>
          <p:cNvPr id="4" name="Image 0" descr="C:\Users\chris\Downloads\612-Group-Project\figures\transformer_h1_loss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766560" cy="378927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543800" y="1417320"/>
            <a:ext cx="4069080" cy="2148840"/>
          </a:xfrm>
          <a:prstGeom prst="roundRect">
            <a:avLst>
              <a:gd name="adj" fmla="val 3404"/>
            </a:avLst>
          </a:prstGeom>
          <a:solidFill>
            <a:srgbClr val="FDF0E1"/>
          </a:solidFill>
          <a:ln w="12700">
            <a:solidFill>
              <a:srgbClr val="FDF0E1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0" y="160020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5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curve told us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0" y="1938528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interim run overfit from epoch 9 to 20 — validation rising while training fell. The final run stops that: best validation 0.3161 at epoch 11, LR halved as improvement stalls, training halted at epoch 19.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680960" y="379476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Adam, learning rate 1e-3, MSE on standardized targets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Gradient-norm clipping at 1.0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ReduceLROnPlateau — halve LR after 3 stalled epochs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stopping, patience 8; best checkpoint retained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seeds fixed at 42; every run writes a history JSON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Methodology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 model is only interesting if it beats the forecast you get for free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68096" y="17556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Naive persistence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68096" y="2194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previous hour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274320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benchmark for hourly load — and a strong one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88536" y="160020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07992" y="17556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F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Seasonal naive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07992" y="2194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same hour yesterday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07992" y="274320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whether the daily cycle alone is predictive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47888" y="17556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7C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 predictor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247888" y="2194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predict the series mean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47888" y="274320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R² = 0 reference point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57200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04672" y="4809744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Metrics: MAE, RMSE, and R², all computed in kilowatts after inverse-transforming predictions. MAE and RMSE together are informative — their ratio shows how much error is concentrated in a few large misses. Headline measure: skill score, the percentage RMSE reduction against persistence.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5,165 held-out hourly predictions the model never saw in training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667512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325880"/>
                <a:gridCol w="1371600"/>
                <a:gridCol w="128016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(kW)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(kW)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 (ours)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0.3062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0.4494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persistence (t−1h)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predictor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Seasonal naive (t−24h)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0.4976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−0.121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543800" y="1508760"/>
            <a:ext cx="4069080" cy="1417320"/>
          </a:xfrm>
          <a:prstGeom prst="roundRect">
            <a:avLst>
              <a:gd name="adj" fmla="val 5161"/>
            </a:avLst>
          </a:prstGeom>
          <a:solidFill>
            <a:srgbClr val="E6F4F1"/>
          </a:solidFill>
          <a:ln w="12700">
            <a:solidFill>
              <a:srgbClr val="E6F4F1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680960" y="1673352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21.8%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653528" y="2350008"/>
            <a:ext cx="3849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reduction vs. naive persistence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543800" y="3246120"/>
            <a:ext cx="4069080" cy="2834640"/>
          </a:xfrm>
          <a:prstGeom prst="roundRect">
            <a:avLst>
              <a:gd name="adj" fmla="val 258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772400" y="345643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things worth noticing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772400" y="3840480"/>
            <a:ext cx="3611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naive scores worse than the mean predictor — a negative R². Household routines vary too much day to day for yesterday's 7pm to predict today's.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margin is larger in RMSE (21.8%) than MAE (17.8%): the gain is concentrated exactly where persistence fails worst.</a:t>
            </a:r>
            <a:endParaRPr lang="en-US" sz="1250" dirty="0"/>
          </a:p>
        </p:txBody>
      </p:sp>
      <p:pic>
        <p:nvPicPr>
          <p:cNvPr id="11" name="Image 0" descr="C:\Users\chris\Downloads\612-Group-Project\figures\transformer_h1_baseline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7400" y="4370832"/>
            <a:ext cx="3657600" cy="2237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Model Still Struggles</a:t>
            </a:r>
            <a:endParaRPr lang="en-US" sz="3200" dirty="0"/>
          </a:p>
        </p:txBody>
      </p:sp>
      <p:pic>
        <p:nvPicPr>
          <p:cNvPr id="3" name="Image 0" descr="C:\Users\chris\Downloads\612-Group-Project\figures\transformer_h1_actual_vs_predi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315200" cy="3234050"/>
          </a:xfrm>
          <a:prstGeom prst="rect">
            <a:avLst/>
          </a:prstGeom>
        </p:spPr>
      </p:pic>
      <p:pic>
        <p:nvPicPr>
          <p:cNvPr id="4" name="Image 1" descr="C:\Users\chris\Downloads\612-Group-Project\figures\transformer_h1_error_distribu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794760"/>
            <a:ext cx="7315200" cy="292608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8138160" y="1371600"/>
            <a:ext cx="3474720" cy="4114800"/>
          </a:xfrm>
          <a:prstGeom prst="roundRect">
            <a:avLst>
              <a:gd name="adj" fmla="val 2105"/>
            </a:avLst>
          </a:prstGeom>
          <a:solidFill>
            <a:srgbClr val="FDF0E1"/>
          </a:solidFill>
          <a:ln w="12700">
            <a:solidFill>
              <a:srgbClr val="FDF0E1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6" name="Text 2"/>
          <p:cNvSpPr/>
          <p:nvPr/>
        </p:nvSpPr>
        <p:spPr>
          <a:xfrm>
            <a:off x="8357616" y="1572768"/>
            <a:ext cx="3035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5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under-prediction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8357616" y="1993392"/>
            <a:ext cx="303580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tracks the daily cycle and event timing, but consistently under-shoots peak magnitude — predicted maxima reach 4.3 kW against observed 5.6 kW.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Residuals are right-skewed; the scatter falls below the diagonal at high load.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rational under MSE. A confident spike that lands an hour off is punished twice — missed peak plus false peak — so hedging toward the mean is optimal wherever the data is most volatile.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loss-function artifact, not a capacity failure.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488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914400" y="30175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from any point in the held-out test period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7490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FC2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streamlit run demo/app.py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443484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moment in the test period — the model forecasts the next hour from the previous 24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Prediction, ground truth, and absolute error against the surrounding load curve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tab: live baseline comparison   ·   About tab: architecture and training curve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an independent train-and-evaluate cycle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406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108960"/>
                <a:gridCol w="914400"/>
                <a:gridCol w="914400"/>
                <a:gridCol w="91440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/ 48 / 168 hours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d=64 L2 / d=64 L4 / d=128 L2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Sinusoidal / learnable / none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vs. without calendar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 vs. LSTM 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2B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D8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229600" y="155448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FDF0E1"/>
          </a:solidFill>
          <a:ln w="12700">
            <a:solidFill>
              <a:srgbClr val="FDF0E1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449056" y="1755648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5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before presenting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449056" y="2157984"/>
            <a:ext cx="294436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-m src.ablation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--group all --epochs 40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land in results/ablation_results.md — paste them into this table.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short on time, run the 'features' and 'architecture' groups first: they produce the two most quotable comparisons.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Future Work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394960" cy="4526280"/>
          </a:xfrm>
          <a:prstGeom prst="roundRect">
            <a:avLst>
              <a:gd name="adj" fmla="val 161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04672" y="17190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04672" y="2212848"/>
            <a:ext cx="4882896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household in a single location — no claim about aggregate or cross-household performance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exogenous variables; temperature is the strongest known driver of residential demand and is absent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forecasts with no uncertainty bounds — the wrong output format for the peak problem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One-hour horizon; operational scheduling needs 24 hours ahead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seed — small differences between ablation rows should not be over-read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309360" y="1508760"/>
            <a:ext cx="5303520" cy="4526280"/>
          </a:xfrm>
          <a:prstGeom prst="roundRect">
            <a:avLst>
              <a:gd name="adj" fmla="val 1616"/>
            </a:avLst>
          </a:prstGeom>
          <a:solidFill>
            <a:srgbClr val="E6F4F1"/>
          </a:solidFill>
          <a:ln w="12700">
            <a:solidFill>
              <a:srgbClr val="E6F4F1"/>
            </a:solidFill>
            <a:prstDash val="solid"/>
          </a:ln>
          <a:effectLst>
            <a:outerShdw sx="100000" sy="100000" kx="0" ky="0" algn="bl" rotWithShape="0" blurRad="76200" dist="12700" dir="5400000">
              <a:srgbClr val="8899A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65392" y="17190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565392" y="2212848"/>
            <a:ext cx="4791456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Quantile / pinball loss — let the model express uncertainty about peaks instead of hedging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hourly weather for Sceaux over the collection period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forecasting to 24 hours; the code already supports the horizon parameter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Visualise attention weights to test whether the model really attends to the same hour on prior days</a:t>
            </a:r>
            <a:endParaRPr lang="en-US" sz="12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on a multi-household dataset to test transfer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64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 Vaswani et al. Attention is all you need. NeurIPS, 2017.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 Hochreiter &amp; Schmidhuber. Long short-term memory. Neural Computation, 1997.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 Zhou et al. Informer: Beyond efficient transformer for long sequence time-series forecasting. AAAI, 2021.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 Wu et al. Autoformer: Decomposition transformers with auto-correlation. NeurIPS, 2021.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 Zeng et al. Are transformers effective for time series forecasting? AAAI, 2023.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 Lim et al. Temporal fusion transformers for interpretable multi-horizon forecasting. IJF, 2021.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 Kong et al. Short-term residential load forecasting based on LSTM RNN. IEEE Trans. Smart Grid, 2019.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 Hyndman &amp; Athanasopoulos. Forecasting: Principles and Practice, 3rd ed. OTexts, 2021.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 Hébrail &amp; Bérard. Individual Household Electric Power Consumption. UCI ML Repository, 2006.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 Kingma &amp; Ba. Adam: A method for stochastic optimization. ICLR, 2015.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 Xiong et al. On layer normalization in the transformer architecture. ICML, 2020.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F2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 Nie et al. A time series is worth 64 words. ICLR, 2023.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32918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87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github.com/Ciaracam/612-Group-Project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41148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Peng   ·   Ciara Cameron   ·   Christopher Pedretti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Transformer-Based Electricity Consumption Forecasting</dc:title>
  <dc:subject>PptxGenJS Presentation</dc:subject>
  <dc:creator>Peng, Cameron, Pedretti</dc:creator>
  <cp:lastModifiedBy>Peng, Cameron, Pedretti</cp:lastModifiedBy>
  <cp:revision>1</cp:revision>
  <dcterms:created xsi:type="dcterms:W3CDTF">2026-08-16T15:56:48Z</dcterms:created>
  <dcterms:modified xsi:type="dcterms:W3CDTF">2026-08-16T15:56:48Z</dcterms:modified>
</cp:coreProperties>
</file>