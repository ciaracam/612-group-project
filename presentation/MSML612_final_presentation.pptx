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Introduce team and topic. One line: we forecast household electricity demand one hour ahead using a Transformer, and we test it against the forecasts you get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0:30–1:45. Emphasise the aggregate-vs-household distinction — this is why the problem is hard and why our R² is not 0.95. Land the framing question: the bar is not 'low error', it is 'better than free'.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1:45–3:15. Walk the five steps quickly. Spend your time on the amber box — the chronological split and train-only scaling are the two methodology points a grader will probe. Expect a question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3:15–4:45. This is the novelty slide — 3 rubric points. Do not just say 'we used a Transformer'. The argument is: attention suits this data for a specific reason, and we built an evaluation that could have proven us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4:45–5:15. Move fast. One rubric point; do not dwell.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5:15–7:00. Two rubric points — the highest-value slide per second. Trace the path out loud: 14 features in, projected to 64 dimensions, positional encoding, two encoder layers, pool the final time step, linear head. Call out the tensor shapes; they show you understand the data flow, not just the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7:00–8:15. REQUIRED PLOT — say the words 'training and validation loss versus epoch' out loud. The overfitting story is a strength: we diagnosed it from the interim curve and fixed it; this figure is the final early-stopped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8:15–9:15. Make the case that this is the honest way to evaluate. Reference Zeng et al. 2023 if asked why we bothered — reported Transformer gains often vanish against simple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9:15–10:30. Lead with 21.8%. The negative-R² observation for seasonal naive is your best 'we actually looked at this' moment — it shows the daily cycle is not sufficient at household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10:30–11:30. This slide is your defence against 'why is R² only 0.59?'. The answer is that MSE makes hedging optimal, and the fix is a quantile loss — not a bigger model. Say that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11:30–14:00. REQUIRED — 3 rubric points. Have the app already running before you start presenting; do not launch it live. Show two forecasts: one on a calm overnight hour, one on an evening peak, so the peak weakness is visible and you own it rather than hiding it. Fallback video ready if anything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14:00–14:30. This is the evidence the architecture was chosen rather than assumed — it carries real weight under 'difficulty of NN design'. If the runs are not finished by Wednesday, delete this slide rather than showing dashes.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14:30–14:50. Be brisk. The quantile-loss point is the strongest one because it follows directly from the error analysis you just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14:50–15:00. Do not read these. Leave up while transitioning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Anticipated questions:
· Why a Transformer over an LSTM? — constant dependency length; see the LSTM control in the ablation.
· Why only 19% over persistence? — appliance events are driven by human decisions that leave no trace in prior meter readings.
· What does attention actually learn? — untested; attention-weight visualisation is named as future work. Do not overclaim.
· Why window length 24? — one full daily cycle; see the window ablation.
· Did you try a linear baseline? — no, and Zeng et al. 2023 says we should. Concede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Transformer-Based Electricity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5420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Forecasting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3649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time-series forecasting of household electricity demand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Peng   ·   Ciara Cameron   ·   Christopher Pedretti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59028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MSML612 — Deep Learning   |   Final Project   | 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household-level load forecasting is hard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6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cannot be stored cheaply at grid scale — supply must match demand continuously.</a:t>
            </a:r>
            <a:endParaRPr lang="en-US" sz="165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6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load forecasting drives generation scheduling, demand-response, and home battery dispatch.</a:t>
            </a:r>
            <a:endParaRPr lang="en-US" sz="165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6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demand is smooth: thousands of appliance events average out.</a:t>
            </a:r>
            <a:endParaRPr lang="en-US" sz="165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6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household is spiky and heavy-tailed — a few discrete, high-draw events dominate.</a:t>
            </a:r>
            <a:endParaRPr lang="en-US" sz="1650" dirty="0"/>
          </a:p>
          <a:p>
            <a:pPr marL="342900" indent="-342900">
              <a:spcAft>
                <a:spcPts val="2600"/>
              </a:spcAft>
              <a:buSzPct val="100000"/>
              <a:buChar char="•"/>
            </a:pPr>
            <a:r>
              <a:rPr lang="en-US" sz="16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that matters operationally lives in the peaks, not the daily rhythm.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06640" y="1572768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35240" y="221284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self-attention capture enough structure in single-household demand to beat the forecasts available for free?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4224528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43891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2.08M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516368" y="50657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minute-level readings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0" y="4224528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38360" y="43891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yrs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710928" y="5065776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metering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Individual Household Electric Power Consumption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084832" cy="2788920"/>
          </a:xfrm>
          <a:prstGeom prst="roundRect">
            <a:avLst>
              <a:gd name="adj" fmla="val 35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190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7282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index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176272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date/time into a timestamp index, coerce to numeric, drop duplicate timestamps from DST transitions.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1572768"/>
            <a:ext cx="2084832" cy="2788920"/>
          </a:xfrm>
          <a:prstGeom prst="roundRect">
            <a:avLst>
              <a:gd name="adj" fmla="val 35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44368" y="17190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9856" y="17282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hourly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62656" y="2176272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resolution is noisier than the task needs. Hourly means absorb isolated gaps: 2.08M rows → 34,589 hours.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47488" y="1572768"/>
            <a:ext cx="2084832" cy="2788920"/>
          </a:xfrm>
          <a:prstGeom prst="roundRect">
            <a:avLst>
              <a:gd name="adj" fmla="val 35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93792" y="17190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7282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2080" y="2176272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~1.25% of raw rows have missing values. Time-weighted interpolation fills remaining hours without fragmenting the series.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96912" y="1572768"/>
            <a:ext cx="2084832" cy="2788920"/>
          </a:xfrm>
          <a:prstGeom prst="roundRect">
            <a:avLst>
              <a:gd name="adj" fmla="val 35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43216" y="17190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18704" y="17282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61504" y="2176272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day, month as sine/cosine pairs plus weekend flag. Keeps hour 23 adjacent to hour 0. 7 measured + 7 derived = 14.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46336" y="1572768"/>
            <a:ext cx="2084832" cy="2788920"/>
          </a:xfrm>
          <a:prstGeom prst="roundRect">
            <a:avLst>
              <a:gd name="adj" fmla="val 350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92640" y="171907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8128" y="17282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then scale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10928" y="2176272"/>
            <a:ext cx="1755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chronological. StandardScaler fit on train only — fitting before splitting leaks test statistics.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" y="486460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chronological splitting matters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" y="524865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hours are highly correlated. A shuffled test set would mostly contain hours whose immediate neighbours the model has already seen — reported performance would measure interpolation, not forecasting.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encoder-only Transformer, and an evaluation designed to be falsifiable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664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over recurrence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LSTM, hour 1 of the window reaches the prediction through 23 sequential state updates. Self-attention connects any two positions in one operation — constant dependency length regardless of separation.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48132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1700784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64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daily cycle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74536" y="2139696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informative context is often the same hour on previous days, not the previous hour. Attention represents that directly as a high weight on a distant position.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739896"/>
            <a:ext cx="310896" cy="31089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703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 encoder layers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" y="4178808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before each sublayer rather than after: better-conditioned gradients at initialisation, no warmup schedule required.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6248" y="3739896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37033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 evaluation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74536" y="4178808"/>
            <a:ext cx="4846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skill against naive persistence, not metrics in isolation. If the model cannot beat repeating the last hour, it is not worth its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2.x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8096" y="239572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nn.TransformerEncoder, custom positional encoding, Adam, ReduceLROnPlateau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88536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07992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07992" y="239572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training split, MAE / MSE metrics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28432" y="16459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47888" y="1883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+ NumPy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47888" y="239572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Resampling, time-weighted interpolation, cyclical feature engineering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8096" y="47274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generated from one shared styling module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88536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07992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07992" y="47274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demo running on CPU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28432" y="3977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47888" y="4215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+ GitHub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7888" y="47274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repo, pinned requirements, per-run history JSON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2800" dirty="0"/>
          </a:p>
        </p:txBody>
      </p:sp>
      <p:pic>
        <p:nvPicPr>
          <p:cNvPr id="3" name="Image 0" descr="C:\Users\chris\Downloads\612-Group-Project\figure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822960"/>
            <a:ext cx="888796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plot: training and validation loss vs. epoch</a:t>
            </a:r>
            <a:endParaRPr lang="en-US" sz="1400" dirty="0"/>
          </a:p>
        </p:txBody>
      </p:sp>
      <p:pic>
        <p:nvPicPr>
          <p:cNvPr id="4" name="Image 0" descr="C:\Users\chris\Downloads\612-Group-Project\figures\transformer_h1_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37892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417320"/>
            <a:ext cx="4069080" cy="2148840"/>
          </a:xfrm>
          <a:prstGeom prst="roundRect">
            <a:avLst>
              <a:gd name="adj" fmla="val 3404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6002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curve told 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1938528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interim run overfit from epoch 9 to 20 — validation rising while training fell. The final run stops that: best validation 0.3161 at epoch 11, LR halved as improvement stalls, training halted at epoch 19.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0" y="3794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learning rate 1e-3, MSE on standardized targets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Gradient-norm clipping at 1.0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— halve LR after 3 stalled epochs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patience 8; best checkpoint retained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seeds fixed at 42; every run writes a history JSON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model is only interesting if it beats the forecast you get for free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persistence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previous hour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benchmark for hourly load — and a strong 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F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naive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7992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same hour yesterday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07992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daily cycle alone is predictive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8432" y="16002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predictor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47888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 the series mean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47888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R² = 0 reference 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4809744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MAE, RMSE, and R², all computed in kilowatts after inverse-transforming predictions. MAE and RMSE together are informative — their ratio shows how much error is concentrated in a few large misses. Headline measure: skill score, the percentage RMSE reduction against persistence.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5,165 held-out hourly predictions the model never saw in training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6751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325880"/>
                <a:gridCol w="1371600"/>
                <a:gridCol w="1280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(kW)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(kW)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(ours)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persistence (t−1h)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 (t−24h)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0876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6733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53528" y="2350008"/>
            <a:ext cx="3849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reduction vs. naive persistence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543800" y="324612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34564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worth noticing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384048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scores worse than the mean predictor — a negative R². Household routines vary too much day to day for yesterday's 7pm to predict today's.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margin is larger in RMSE (21.8%) than MAE (17.8%): the gain is concentrated exactly where persistence fails worst.</a:t>
            </a:r>
            <a:endParaRPr lang="en-US" sz="1250" dirty="0"/>
          </a:p>
        </p:txBody>
      </p:sp>
      <p:pic>
        <p:nvPicPr>
          <p:cNvPr id="11" name="Image 0" descr="C:\Users\chris\Downloads\612-Group-Project\figures\transformer_h1_baselin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4370832"/>
            <a:ext cx="3657600" cy="223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Still Struggles</a:t>
            </a:r>
            <a:endParaRPr lang="en-US" sz="3200" dirty="0"/>
          </a:p>
        </p:txBody>
      </p:sp>
      <p:pic>
        <p:nvPicPr>
          <p:cNvPr id="3" name="Image 0" descr="C:\Users\chris\Downloads\612-Group-Project\figures\transformer_h1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3234050"/>
          </a:xfrm>
          <a:prstGeom prst="rect">
            <a:avLst/>
          </a:prstGeom>
        </p:spPr>
      </p:pic>
      <p:pic>
        <p:nvPicPr>
          <p:cNvPr id="4" name="Image 1" descr="C:\Users\chris\Downloads\612-Group-Project\figures\transformer_h1_error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7315200" cy="2926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8138160" y="13716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8357616" y="1572768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under-prediction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357616" y="1993392"/>
            <a:ext cx="30358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tracks the daily cycle and event timing, but consistently under-shoots peak magnitude — predicted maxima reach 4.3 kW against observed 5.6 kW.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right-skewed; the scatter falls below the diagonal at high load.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rational under MSE. A confident spike that lands an hour off is punished twice — missed peak plus false peak — so hedging toward the mean is optimal wherever the data is most volatile.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loss-function artifact, not a capacity failure.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from any point in the held-out test period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2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demo/app.py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moment in the test period — the model forecasts the next hour from the previous 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ground truth, and absolute error against the surrounding load curve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tab: live baseline comparison   ·   About tab: architecture and training curve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an independent train-and-evaluate cycle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914400"/>
                <a:gridCol w="914400"/>
                <a:gridCol w="91440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48 / 168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d=64 L2 / d=64 L4 / d=128 L2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Sinusoidal / learnable /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vs. without calendar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vs. LSTM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DF0E1"/>
          </a:solidFill>
          <a:ln w="12700">
            <a:solidFill>
              <a:srgbClr val="FDF0E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49056" y="175564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5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before presenting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49056" y="2157984"/>
            <a:ext cx="29443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src.ablation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--group all --epochs 40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land in results/ablation_results.md — paste them into this table.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short on time, run the 'features' and 'architecture' groups first: they produce the two most quotable comparisons.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04672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" y="2212848"/>
            <a:ext cx="488289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household in a single location — no claim about aggregate or cross-household performance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exogenous variables; temperature is the strongest known driver of residential demand and is absent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forecasts with no uncertainty bounds — the wrong output format for the peak problem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One-hour horizon; operational scheduling needs 24 hours ahead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 — small differences between ablation rows should not be over-read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50876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  <a:effectLst>
            <a:outerShdw sx="100000" sy="100000" kx="0" ky="0" algn="bl" rotWithShape="0" blurRad="76200" dist="12700" dir="5400000">
              <a:srgbClr val="8899A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65392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65392" y="2212848"/>
            <a:ext cx="479145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/ pinball loss — let the model express uncertainty about peaks instead of hedging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hourly weather for Sceaux over the collection period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forecasting to 24 hours; the code already supports the horizon parameter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attention weights to test whether the model really attends to the same hour on prior days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multi-household dataset to test transfer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Vaswani et al. Attention is all you need. NeurIPS, 2017.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Hochreiter &amp; Schmidhuber. Long short-term memory. Neural Computation, 1997.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Zhou et al. Informer: Beyond efficient transformer for long sequence time-series forecasting. AAAI,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Wu et al. Autoformer: Decomposition transformers with auto-correlation. NeurIPS,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Zeng et al. Are transformers effective for time series forecasting? AAAI, 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Lim et al. Temporal fusion transformers for interpretable multi-horizon forecasting. IJF,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Kong et al. Short-term residential load forecasting based on LSTM RNN. IEEE Trans. Smart Grid, 2019.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Hyndman &amp; Athanasopoulos. Forecasting: Principles and Practice, 3rd ed. OTexts, 2021.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Hébrail &amp; Bérard. Individual Household Electric Power Consumption. UCI ML Repository, 2006.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Kingma &amp; Ba. Adam: A method for stochastic optimization. ICLR, 2015.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Xiong et al. On layer normalization in the transformer architecture. ICML, 2020.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Nie et al. A time series is worth 64 words. ICLR, 2023.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github.com/Ciaracam/612-Group-Project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Peng   ·   Ciara Cameron   ·   Christopher Pedretti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Transformer-Based Electricity Consumption Forecasting</dc:title>
  <dc:subject>PptxGenJS Presentation</dc:subject>
  <dc:creator>Peng, Cameron, Pedretti</dc:creator>
  <cp:lastModifiedBy>Peng, Cameron, Pedretti</cp:lastModifiedBy>
  <cp:revision>1</cp:revision>
  <dcterms:created xsi:type="dcterms:W3CDTF">2026-08-16T16:15:05Z</dcterms:created>
  <dcterms:modified xsi:type="dcterms:W3CDTF">2026-08-16T16:15:05Z</dcterms:modified>
</cp:coreProperties>
</file>